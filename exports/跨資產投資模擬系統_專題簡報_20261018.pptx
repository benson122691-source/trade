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TW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大家好，我今天要介紹的是一個跨資產投資模擬與預測原型。使用者可以設定一筆本金，選擇不同市場的代表標的，先回看歷史情境，再了解模型預測是怎麼產生的。這個專題的重點不是說機器學習可以保證賺錢，而是把比較條件、資料處理和模型限制放在同一個可操作的流程裡。今天會從為什麼需要比較開始，接著介紹網站、資料與模型，最後說明目前還不能下哪些結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先想像我們手上有一筆固定本金，想比較股票、加密貨幣、黃金和債券相關市場。單看資產價格沒有意義，因為一股的價格可能是幾百元，一枚加密貨幣可能是幾百萬元，價格尺度完全不同。即使都換成報酬百分比，也還有匯率、交易日、投入時間和成本的差異。因此網站不只要算出一個期末金額，也要把期間與投入方式說清楚，讓比較的前提可以被檢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這個專題主要回答三個問題。第一，在相同本金和相同持有期間下，不同代表資產的歷史情境如何比較？第二，一次投入和定期投入會怎麼改變本金進場的時間路徑？第三，使用價格特徵做出的報酬預測，能不能在時間順序正確的測試資料上，比簡單基準更準？這三個問題由描述走向驗證。最後一題目前是研究設計，不是已經證實模型勝出的結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我們選擇程式目前支援的四個代表標的：台股 ETF 0050、美股 ETF SPY、比特幣 BTC，以及黃金 ETF GLD。海外標的以美元計價，模擬時會用 USD/TWD 匯率換算成新台幣。這些標的方便做跨市場比較，但不等於直接持有整個市場或實體黃金。比較時也要留意它們的交易日、費用、配息和資料來源差異。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使用流程分成輸入、取資料、計算和呈現。輸入可以包含本金、資產、期間和投入方式。程式取得價格資料後，先整理日期，再分別計算歷史模擬與預測結果。這兩類結果回答的問題不同：歷史模擬說明過去某種投入規則會怎麼走；模型預測則是依照訓練資料推估未來報酬，必須另外評估誤差。使用者也應該能看到資料更新時間和失敗訊息，否則一個看起來很精確的數字，可能其實是舊資料或不完整資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目前程式透過 yfinance 下載金融價格資料，所以要把它描述成資料下載流程，而不是已經完成的通用網頁爬蟲。下載後要統一觀察區間，確認不同資產的日期能否對齊，並處理休市日和缺值。比特幣全天交易，ETF 則只在交易日開市，直接逐列比較會造成時間頻率不一致。接著我們把價格變化換成報酬率，才有較一致的尺度。後續若要真的加入爬蟲，應先選擇允許存取且資料品質穩定的公開來源，記錄來源與抓取時間，並避免把來源限制當成模型的預測能力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模擬結果依賴一些很實際的設定。本金和持有期間決定計算範圍，投入方式決定資金何時進場，而交易成本、稅和換匯成本會影響最後金額。現在的原型沒有完整納入這些成本，所以輸出適合做概念比較，不能當成實際券商帳戶的精確對帳。不同標的也可能以不同幣別計價；如果本金是新台幣而標的是美元資產，匯率變化會影響本幣報酬。報告結果時，我們應該把這些假設和結果一起展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這一頁用柱子表示資金進場節奏，並不是市場價格。一次投入把較多本金放在起點，所以從一開始就承受市場漲跌；定期投入則分批把本金轉成持有部位，尚未投入的資金也有等待時間。兩種方式沒有一種在所有市場都必然較好，結果會依價格路徑而改變。還要特別說明，現有預測模型把全部本金視為在起點投入；如果要預測定期投入，就需要把每次投入的時間和部位變化納入模型，不能把目前輸出直接套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只看最後賺或賠會漏掉過程中的風險。圖上的兩條線是概念示意：終點相近，但中間起伏程度不同。實際分析可以補上最大回撤，表示資產從前高下跌到低點的幅度，也可以觀察報酬波動度。對使用者來說，投資期間曾經下跌多少，往往跟期末數字一樣重要。這張投影片沒有使用真實行情，也沒有宣稱哪一條線代表特定資產；未來的網站圖表應直接連到可重現的歷史資料和計算設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這張是介面概念圖，不是已部署網站的截圖。畫面刻意把歷史情境和預測情境分開：左側可以查看本金在歷史價格路徑下的變化，右側則呈現模型預測和不確定範圍。這樣的安排能避免使用者把歷史報酬當成未來承諾，也能讓模型估計不是孤立的一個數字。實際產品還應加入資料日期、選擇期間、幣別、投入方式和錯誤提示。試算本金只是介面示例，並不對應這套模型的實際績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模型的目標是未來 H 期的對數報酬，而不是直接猜下一個價格。輸入特徵只使用過去價格衍生資訊，包括五、二十、六十期動能，二十與六十期波動度，以及目前價格相對移動平均的位置。使用報酬作為目標可以讓不同價位的資產比較更有意義。H 代表預測期長，需要依資料頻率和使用者選的期間換算。最後再把預測報酬套用到本金上，才形成一個金額情境；目前假設起點全額投入，也尚未扣除交易和換匯成本。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金融資料有時間先後，因此不能把日期隨機打散後再切訓練和測試。隨機切分可能讓模型在訓練中看見測試期間之後的市場狀態，評估就會過度樂觀。這裡採用時間順序切分：前面約八成資料用於開發，最後兩成保留為測試。在開發資料中再做時間序列驗證，選擇模型。由於預測目標會延伸到未來 H 期，切分邊界附近的樣本必須剔除，避免訓練標籤跨進測試區間。這樣做無法保證未來有效，但能讓評估更接近真實使用情境。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模型評估應該先和簡單基準比。第一個基準是每次都預測零報酬，第二個基準是只用開發期的平均報酬。候選模型是標準化 Ridge 和 Random Forest；Ridge 用來表示較簡單的線性關係，Random Forest 則能表示非線性切分。模型在開發期內用驗證集的平均絕對誤差，也就是 MAE，來選擇。最後才在保留的測試集回報 MAE 和均方根誤差 RMSE。這份簡報沒有可引用的測試結果，所以不會填入數字，也不會說模型已經勝過基準。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預測通常有誤差，因此畫面應提供範圍，讓使用者看到較低和較高情境。這個原型的想法是從測試期的預測誤差取第十與第九十百分位，得到 q10 和 q90 的誤差參考，再搭配模型預測。圖上的區間只是示意，不是個別資產的實測值。即使未來用真實測試資料計算，也只能說這個範圍反映過去測試誤差，不能把它解讀成未來一定會落在裡面，更不是統計保證或收益承諾。展示區間可以讓不確定性被看見，但不會消除不確定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原型目前可以用同一筆本金比較多種資產、回看不同投入方式，也能解釋模型特徵、時間切分與評估基準。它還不能保證獲利、證明模型一定勝出，也沒有完整處理交易成本、稅、滑價和匯率。資料供應商可能有缺漏或修訂，不同市場的交易制度也不相同。下一步需要讓每次結果都能追溯到資料來源和程式版本，再用新的時間段進行重複測試。對課堂專題而言，清楚承認限制是研究的一部分；網站提供的是學習與比較，不是個人化投資建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這個方向和一般只顯示一個預測數字的網站相比，核心差異放在完整比較流程：相同本金、多類資產、清楚的假設、歷史模擬、時間序列驗證、簡單基準和誤差範圍。這些設計讓使用者能追問數字怎麼來，也能發現哪些差異是資產本身，哪些差異來自設定。這個定位不表示其他網站都沒有類似功能，也不會靠一句「AI 預測」來證明優勢。真正的貢獻需要靠可重現的程式、透明的資料流程與誠實的樣本外評估來支持。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總結來說，這個專題先讓跨資產的歷史比較條件一致，再逐步檢查預測是否有用。短期要補齊資料來源、更新紀錄和測試結果，接著加入交易成本並擴充基準；長期則要用不同市場期間和新資料重複驗證。當結果不穩定時，也應該如實呈現。這樣網站才能幫助使用者理解風險與假設，而不是讓單一預測數字看起來像確定答案。以上是我的報告，謝謝大家，接下來歡迎提問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跨資產投資模擬系統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跨資產投資模擬系統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field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cover-kicker"/>
          <p:cNvSpPr txBox="1"/>
          <p:nvPr/>
        </p:nvSpPr>
        <p:spPr>
          <a:xfrm>
            <a:off x="678180" y="685800"/>
            <a:ext cx="31608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專題研究　/　投資模擬與機器學習</a:t>
            </a:r>
          </a:p>
        </p:txBody>
      </p:sp>
      <p:sp>
        <p:nvSpPr>
          <p:cNvPr id="4" name="cover-title-line1"/>
          <p:cNvSpPr txBox="1"/>
          <p:nvPr/>
        </p:nvSpPr>
        <p:spPr>
          <a:xfrm>
            <a:off x="666750" y="1397000"/>
            <a:ext cx="387477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5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一筆本金，</a:t>
            </a:r>
          </a:p>
        </p:txBody>
      </p:sp>
      <p:sp>
        <p:nvSpPr>
          <p:cNvPr id="5" name="cover-title-line2"/>
          <p:cNvSpPr txBox="1"/>
          <p:nvPr/>
        </p:nvSpPr>
        <p:spPr>
          <a:xfrm>
            <a:off x="666750" y="2330450"/>
            <a:ext cx="310743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5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四種市場</a:t>
            </a:r>
          </a:p>
        </p:txBody>
      </p:sp>
      <p:sp>
        <p:nvSpPr>
          <p:cNvPr id="6" name="cover-subtitle"/>
          <p:cNvSpPr txBox="1"/>
          <p:nvPr/>
        </p:nvSpPr>
        <p:spPr>
          <a:xfrm>
            <a:off x="712470" y="335915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跨資產投資模擬系統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40576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19050">
            <a:solidFill>
              <a:srgbClr val="D5DCD7"/>
            </a:solidFill>
          </a:ln>
        </p:spPr>
      </p:sp>
      <p:sp>
        <p:nvSpPr>
          <p:cNvPr id="8" name="cover-question"/>
          <p:cNvSpPr txBox="1"/>
          <p:nvPr/>
        </p:nvSpPr>
        <p:spPr>
          <a:xfrm>
            <a:off x="715518" y="4311650"/>
            <a:ext cx="53477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同一筆總投入，如何比較歷史路徑、風險與預測情境？</a:t>
            </a:r>
          </a:p>
        </p:txBody>
      </p:sp>
      <p:sp>
        <p:nvSpPr>
          <p:cNvPr id="9" name="principal-node"/>
          <p:cNvSpPr/>
          <p:nvPr/>
        </p:nvSpPr>
        <p:spPr>
          <a:xfrm>
            <a:off x="8458200" y="2809875"/>
            <a:ext cx="800100" cy="800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principal-label"/>
          <p:cNvSpPr txBox="1"/>
          <p:nvPr/>
        </p:nvSpPr>
        <p:spPr>
          <a:xfrm>
            <a:off x="8648700" y="30956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本金</a:t>
            </a:r>
          </a:p>
        </p:txBody>
      </p:sp>
      <p:sp>
        <p:nvSpPr>
          <p:cNvPr id="11" name="Line 11"/>
          <p:cNvSpPr/>
          <p:nvPr/>
        </p:nvSpPr>
        <p:spPr>
          <a:xfrm>
            <a:off x="9220200" y="2057400"/>
            <a:ext cx="1066800" cy="990600"/>
          </a:xfrm>
          <a:custGeom>
            <a:avLst/>
            <a:gdLst/>
            <a:ahLst/>
            <a:cxnLst/>
            <a:rect l="l" t="t" r="r" b="b"/>
            <a:pathLst>
              <a:path w="1066800" h="990600">
                <a:moveTo>
                  <a:pt x="0" y="990600"/>
                </a:moveTo>
                <a:lnTo>
                  <a:pt x="10668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12" name="Line 12"/>
          <p:cNvSpPr/>
          <p:nvPr/>
        </p:nvSpPr>
        <p:spPr>
          <a:xfrm>
            <a:off x="9258300" y="2800350"/>
            <a:ext cx="1028700" cy="342900"/>
          </a:xfrm>
          <a:custGeom>
            <a:avLst/>
            <a:gdLst/>
            <a:ahLst/>
            <a:cxnLst/>
            <a:rect l="l" t="t" r="r" b="b"/>
            <a:pathLst>
              <a:path w="1028700" h="342900">
                <a:moveTo>
                  <a:pt x="0" y="342900"/>
                </a:moveTo>
                <a:lnTo>
                  <a:pt x="1028700" y="0"/>
                </a:lnTo>
              </a:path>
            </a:pathLst>
          </a:custGeom>
          <a:noFill/>
          <a:ln w="28575">
            <a:solidFill>
              <a:srgbClr val="3266A8"/>
            </a:solidFill>
          </a:ln>
        </p:spPr>
      </p:sp>
      <p:sp>
        <p:nvSpPr>
          <p:cNvPr id="13" name="Line 13"/>
          <p:cNvSpPr/>
          <p:nvPr/>
        </p:nvSpPr>
        <p:spPr>
          <a:xfrm>
            <a:off x="9258300" y="3276600"/>
            <a:ext cx="1028700" cy="457200"/>
          </a:xfrm>
          <a:custGeom>
            <a:avLst/>
            <a:gdLst/>
            <a:ahLst/>
            <a:cxnLst/>
            <a:rect l="l" t="t" r="r" b="b"/>
            <a:pathLst>
              <a:path w="1028700" h="457200">
                <a:moveTo>
                  <a:pt x="0" y="0"/>
                </a:moveTo>
                <a:lnTo>
                  <a:pt x="1028700" y="457200"/>
                </a:lnTo>
              </a:path>
            </a:pathLst>
          </a:custGeom>
          <a:noFill/>
          <a:ln w="28575">
            <a:solidFill>
              <a:schemeClr val="accent3"/>
            </a:solidFill>
          </a:ln>
        </p:spPr>
      </p:sp>
      <p:sp>
        <p:nvSpPr>
          <p:cNvPr id="14" name="Line 14"/>
          <p:cNvSpPr/>
          <p:nvPr/>
        </p:nvSpPr>
        <p:spPr>
          <a:xfrm>
            <a:off x="9201150" y="3390900"/>
            <a:ext cx="1085850" cy="1085850"/>
          </a:xfrm>
          <a:custGeom>
            <a:avLst/>
            <a:gdLst/>
            <a:ahLst/>
            <a:cxnLst/>
            <a:rect l="l" t="t" r="r" b="b"/>
            <a:pathLst>
              <a:path w="1085850" h="1085850">
                <a:moveTo>
                  <a:pt x="0" y="0"/>
                </a:moveTo>
                <a:lnTo>
                  <a:pt x="1085850" y="1085850"/>
                </a:lnTo>
              </a:path>
            </a:pathLst>
          </a:custGeom>
          <a:noFill/>
          <a:ln w="28575">
            <a:solidFill>
              <a:srgbClr val="C45E4A"/>
            </a:solidFill>
          </a:ln>
        </p:spPr>
      </p:sp>
      <p:sp>
        <p:nvSpPr>
          <p:cNvPr id="15" name="node-0050"/>
          <p:cNvSpPr/>
          <p:nvPr/>
        </p:nvSpPr>
        <p:spPr>
          <a:xfrm>
            <a:off x="10277475" y="191452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node-spy"/>
          <p:cNvSpPr/>
          <p:nvPr/>
        </p:nvSpPr>
        <p:spPr>
          <a:xfrm>
            <a:off x="10277475" y="2695575"/>
            <a:ext cx="171450" cy="171450"/>
          </a:xfrm>
          <a:prstGeom prst="ellipse">
            <a:avLst/>
          </a:prstGeom>
          <a:solidFill>
            <a:srgbClr val="3266A8"/>
          </a:solidFill>
          <a:ln>
            <a:noFill/>
          </a:ln>
        </p:spPr>
      </p:sp>
      <p:sp>
        <p:nvSpPr>
          <p:cNvPr id="17" name="node-btc"/>
          <p:cNvSpPr/>
          <p:nvPr/>
        </p:nvSpPr>
        <p:spPr>
          <a:xfrm>
            <a:off x="10277475" y="3667125"/>
            <a:ext cx="171450" cy="171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node-gld"/>
          <p:cNvSpPr/>
          <p:nvPr/>
        </p:nvSpPr>
        <p:spPr>
          <a:xfrm>
            <a:off x="10277475" y="4448175"/>
            <a:ext cx="171450" cy="171450"/>
          </a:xfrm>
          <a:prstGeom prst="ellipse">
            <a:avLst/>
          </a:prstGeom>
          <a:solidFill>
            <a:srgbClr val="C45E4A"/>
          </a:solidFill>
          <a:ln>
            <a:noFill/>
          </a:ln>
        </p:spPr>
      </p:sp>
      <p:sp>
        <p:nvSpPr>
          <p:cNvPr id="19" name="ticker-0050"/>
          <p:cNvSpPr txBox="1"/>
          <p:nvPr/>
        </p:nvSpPr>
        <p:spPr>
          <a:xfrm>
            <a:off x="10565511" y="1898650"/>
            <a:ext cx="8734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0050.TW</a:t>
            </a:r>
          </a:p>
        </p:txBody>
      </p:sp>
      <p:sp>
        <p:nvSpPr>
          <p:cNvPr id="20" name="ticker-spy"/>
          <p:cNvSpPr txBox="1"/>
          <p:nvPr/>
        </p:nvSpPr>
        <p:spPr>
          <a:xfrm>
            <a:off x="10565511" y="2679700"/>
            <a:ext cx="36441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SPY</a:t>
            </a:r>
          </a:p>
        </p:txBody>
      </p:sp>
      <p:sp>
        <p:nvSpPr>
          <p:cNvPr id="21" name="ticker-btc"/>
          <p:cNvSpPr txBox="1"/>
          <p:nvPr/>
        </p:nvSpPr>
        <p:spPr>
          <a:xfrm>
            <a:off x="10565511" y="3651250"/>
            <a:ext cx="8309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BTC-USD</a:t>
            </a:r>
          </a:p>
        </p:txBody>
      </p:sp>
      <p:sp>
        <p:nvSpPr>
          <p:cNvPr id="22" name="ticker-gld"/>
          <p:cNvSpPr txBox="1"/>
          <p:nvPr/>
        </p:nvSpPr>
        <p:spPr>
          <a:xfrm>
            <a:off x="10565511" y="4432300"/>
            <a:ext cx="36441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GLD</a:t>
            </a:r>
          </a:p>
        </p:txBody>
      </p:sp>
      <p:sp>
        <p:nvSpPr>
          <p:cNvPr id="23" name="cover-disclosure"/>
          <p:cNvSpPr txBox="1"/>
          <p:nvPr/>
        </p:nvSpPr>
        <p:spPr>
          <a:xfrm>
            <a:off x="717423" y="5943600"/>
            <a:ext cx="380385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歷史模擬與模型情境　｜　教育用途，不保證收益</a:t>
            </a:r>
          </a:p>
        </p:txBody>
      </p:sp>
      <p:sp>
        <p:nvSpPr>
          <p:cNvPr id="24" name="cover-date"/>
          <p:cNvSpPr txBox="1"/>
          <p:nvPr/>
        </p:nvSpPr>
        <p:spPr>
          <a:xfrm>
            <a:off x="10801960" y="61912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3123" y="304800"/>
            <a:ext cx="10735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　研究問題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92836" y="660400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價格不能直接拿來比較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37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5DCD7"/>
            </a:solidFill>
          </a:ln>
        </p:spPr>
      </p:sp>
      <p:sp>
        <p:nvSpPr>
          <p:cNvPr id="5" name="lead"/>
          <p:cNvSpPr txBox="1"/>
          <p:nvPr/>
        </p:nvSpPr>
        <p:spPr>
          <a:xfrm>
            <a:off x="598932" y="1670050"/>
            <a:ext cx="59580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比較投資結果前，要先把條件放到同一把尺上。</a:t>
            </a:r>
          </a:p>
        </p:txBody>
      </p:sp>
      <p:sp>
        <p:nvSpPr>
          <p:cNvPr id="6" name="factor-1"/>
          <p:cNvSpPr txBox="1"/>
          <p:nvPr/>
        </p:nvSpPr>
        <p:spPr>
          <a:xfrm>
            <a:off x="864108" y="250825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資產不同</a:t>
            </a:r>
          </a:p>
        </p:txBody>
      </p:sp>
      <p:sp>
        <p:nvSpPr>
          <p:cNvPr id="7" name="factor-1-detail"/>
          <p:cNvSpPr txBox="1"/>
          <p:nvPr/>
        </p:nvSpPr>
        <p:spPr>
          <a:xfrm>
            <a:off x="867918" y="2978150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股票、比特幣與黃金的價格行為不同</a:t>
            </a:r>
          </a:p>
        </p:txBody>
      </p:sp>
      <p:sp>
        <p:nvSpPr>
          <p:cNvPr id="8" name="Line 8"/>
          <p:cNvSpPr/>
          <p:nvPr/>
        </p:nvSpPr>
        <p:spPr>
          <a:xfrm>
            <a:off x="876300" y="3438525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9" name="factor-2"/>
          <p:cNvSpPr txBox="1"/>
          <p:nvPr/>
        </p:nvSpPr>
        <p:spPr>
          <a:xfrm>
            <a:off x="864108" y="3756025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rgbClr val="3266A8"/>
                </a:solidFill>
                <a:latin typeface="+mj-lt"/>
                <a:ea typeface="+mj-ea"/>
                <a:cs typeface="+mj-cs"/>
              </a:rPr>
              <a:t>幣別不同</a:t>
            </a:r>
          </a:p>
        </p:txBody>
      </p:sp>
      <p:sp>
        <p:nvSpPr>
          <p:cNvPr id="10" name="factor-2-detail"/>
          <p:cNvSpPr txBox="1"/>
          <p:nvPr/>
        </p:nvSpPr>
        <p:spPr>
          <a:xfrm>
            <a:off x="867918" y="4225925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海外標的的匯率會改變新台幣報酬</a:t>
            </a:r>
          </a:p>
        </p:txBody>
      </p:sp>
      <p:sp>
        <p:nvSpPr>
          <p:cNvPr id="11" name="Line 11"/>
          <p:cNvSpPr/>
          <p:nvPr/>
        </p:nvSpPr>
        <p:spPr>
          <a:xfrm>
            <a:off x="876300" y="46863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12" name="factor-3"/>
          <p:cNvSpPr txBox="1"/>
          <p:nvPr/>
        </p:nvSpPr>
        <p:spPr>
          <a:xfrm>
            <a:off x="864108" y="500380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現金流不同</a:t>
            </a:r>
          </a:p>
        </p:txBody>
      </p:sp>
      <p:sp>
        <p:nvSpPr>
          <p:cNvPr id="13" name="factor-3-detail"/>
          <p:cNvSpPr txBox="1"/>
          <p:nvPr/>
        </p:nvSpPr>
        <p:spPr>
          <a:xfrm>
            <a:off x="867918" y="5473700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一次投入和定期定額的進場時間不同</a:t>
            </a:r>
          </a:p>
        </p:txBody>
      </p:sp>
      <p:sp>
        <p:nvSpPr>
          <p:cNvPr id="14" name="takeaway-band"/>
          <p:cNvSpPr/>
          <p:nvPr/>
        </p:nvSpPr>
        <p:spPr>
          <a:xfrm>
            <a:off x="7239000" y="5810250"/>
            <a:ext cx="40767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akeaway"/>
          <p:cNvSpPr txBox="1"/>
          <p:nvPr/>
        </p:nvSpPr>
        <p:spPr>
          <a:xfrm>
            <a:off x="7231380" y="594360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共同本金、期間、計價方式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398606" y="63627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3123" y="304800"/>
            <a:ext cx="10735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　研究問題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92836" y="660400"/>
            <a:ext cx="314325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研究目標與問題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37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5DCD7"/>
            </a:solidFill>
          </a:ln>
        </p:spPr>
      </p:sp>
      <p:sp>
        <p:nvSpPr>
          <p:cNvPr id="5" name="Line 5"/>
          <p:cNvSpPr/>
          <p:nvPr/>
        </p:nvSpPr>
        <p:spPr>
          <a:xfrm>
            <a:off x="1352550" y="2409825"/>
            <a:ext cx="9220200" cy="9525"/>
          </a:xfrm>
          <a:custGeom>
            <a:avLst/>
            <a:gdLst/>
            <a:ahLst/>
            <a:cxnLst/>
            <a:rect l="l" t="t" r="r" b="b"/>
            <a:pathLst>
              <a:path w="9220200" h="9525">
                <a:moveTo>
                  <a:pt x="0" y="0"/>
                </a:moveTo>
                <a:lnTo>
                  <a:pt x="9220200" y="0"/>
                </a:lnTo>
              </a:path>
            </a:pathLst>
          </a:custGeom>
          <a:noFill/>
          <a:ln w="28575">
            <a:solidFill>
              <a:srgbClr val="D5DCD7"/>
            </a:solidFill>
          </a:ln>
        </p:spPr>
      </p:sp>
      <p:sp>
        <p:nvSpPr>
          <p:cNvPr id="6" name="q1-node"/>
          <p:cNvSpPr/>
          <p:nvPr/>
        </p:nvSpPr>
        <p:spPr>
          <a:xfrm>
            <a:off x="1438275" y="2133600"/>
            <a:ext cx="552450" cy="552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q2-node"/>
          <p:cNvSpPr/>
          <p:nvPr/>
        </p:nvSpPr>
        <p:spPr>
          <a:xfrm>
            <a:off x="5819775" y="2133600"/>
            <a:ext cx="552450" cy="552450"/>
          </a:xfrm>
          <a:prstGeom prst="ellipse">
            <a:avLst/>
          </a:prstGeom>
          <a:solidFill>
            <a:srgbClr val="3266A8"/>
          </a:solidFill>
          <a:ln>
            <a:noFill/>
          </a:ln>
        </p:spPr>
      </p:sp>
      <p:sp>
        <p:nvSpPr>
          <p:cNvPr id="8" name="q3-node"/>
          <p:cNvSpPr/>
          <p:nvPr/>
        </p:nvSpPr>
        <p:spPr>
          <a:xfrm>
            <a:off x="10201275" y="2133600"/>
            <a:ext cx="552450" cy="552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" name="q1-number"/>
          <p:cNvSpPr txBox="1"/>
          <p:nvPr/>
        </p:nvSpPr>
        <p:spPr>
          <a:xfrm>
            <a:off x="1641980" y="2282825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0" name="q2-number"/>
          <p:cNvSpPr txBox="1"/>
          <p:nvPr/>
        </p:nvSpPr>
        <p:spPr>
          <a:xfrm>
            <a:off x="6023480" y="2282825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1" name="q3-number"/>
          <p:cNvSpPr txBox="1"/>
          <p:nvPr/>
        </p:nvSpPr>
        <p:spPr>
          <a:xfrm>
            <a:off x="10404980" y="2282825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2" name="q1-heading"/>
          <p:cNvSpPr txBox="1"/>
          <p:nvPr/>
        </p:nvSpPr>
        <p:spPr>
          <a:xfrm>
            <a:off x="864870" y="29019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投入方式</a:t>
            </a:r>
          </a:p>
        </p:txBody>
      </p:sp>
      <p:sp>
        <p:nvSpPr>
          <p:cNvPr id="13" name="q1-copy"/>
          <p:cNvSpPr txBox="1"/>
          <p:nvPr/>
        </p:nvSpPr>
        <p:spPr>
          <a:xfrm>
            <a:off x="868299" y="3422650"/>
            <a:ext cx="2223262" cy="6042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一次投入與定期定額，</a:t>
            </a:r>
            <a:b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</a:b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歷史資產路徑有何差異？</a:t>
            </a:r>
          </a:p>
        </p:txBody>
      </p:sp>
      <p:sp>
        <p:nvSpPr>
          <p:cNvPr id="14" name="q2-heading"/>
          <p:cNvSpPr txBox="1"/>
          <p:nvPr/>
        </p:nvSpPr>
        <p:spPr>
          <a:xfrm>
            <a:off x="5246370" y="29019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預測誤差</a:t>
            </a:r>
          </a:p>
        </p:txBody>
      </p:sp>
      <p:sp>
        <p:nvSpPr>
          <p:cNvPr id="15" name="q2-copy"/>
          <p:cNvSpPr txBox="1"/>
          <p:nvPr/>
        </p:nvSpPr>
        <p:spPr>
          <a:xfrm>
            <a:off x="5249799" y="3422650"/>
            <a:ext cx="2223262" cy="6042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機器學習模型是否優於</a:t>
            </a:r>
            <a:b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</a:b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零報酬或歷史平均基準？</a:t>
            </a:r>
          </a:p>
        </p:txBody>
      </p:sp>
      <p:sp>
        <p:nvSpPr>
          <p:cNvPr id="16" name="q3-heading"/>
          <p:cNvSpPr txBox="1"/>
          <p:nvPr/>
        </p:nvSpPr>
        <p:spPr>
          <a:xfrm>
            <a:off x="9627870" y="29019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風險指標</a:t>
            </a:r>
          </a:p>
        </p:txBody>
      </p:sp>
      <p:sp>
        <p:nvSpPr>
          <p:cNvPr id="17" name="q3-copy"/>
          <p:cNvSpPr txBox="1"/>
          <p:nvPr/>
        </p:nvSpPr>
        <p:spPr>
          <a:xfrm>
            <a:off x="9631299" y="3422650"/>
            <a:ext cx="1821942" cy="6042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波動與最大回撤，</a:t>
            </a:r>
            <a:b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</a:br>
            <a:r>
              <a:rPr lang="zh-TW" sz="15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如何補足報酬比較？</a:t>
            </a:r>
          </a:p>
        </p:txBody>
      </p:sp>
      <p:sp>
        <p:nvSpPr>
          <p:cNvPr id="18" name="Line 18"/>
          <p:cNvSpPr/>
          <p:nvPr/>
        </p:nvSpPr>
        <p:spPr>
          <a:xfrm>
            <a:off x="876300" y="501015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19" name="takeaway"/>
          <p:cNvSpPr txBox="1"/>
          <p:nvPr/>
        </p:nvSpPr>
        <p:spPr>
          <a:xfrm>
            <a:off x="867918" y="5359400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模型不能只展示預測線；還要和基準比較。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398606" y="63627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3123" y="304800"/>
            <a:ext cx="10735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　研究範圍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92836" y="66040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四種資產，四個代表標的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37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5DCD7"/>
            </a:solidFill>
          </a:ln>
        </p:spPr>
      </p:sp>
      <p:sp>
        <p:nvSpPr>
          <p:cNvPr id="5" name="Line 5"/>
          <p:cNvSpPr/>
          <p:nvPr/>
        </p:nvSpPr>
        <p:spPr>
          <a:xfrm>
            <a:off x="3352800" y="2133600"/>
            <a:ext cx="9525" cy="2819400"/>
          </a:xfrm>
          <a:custGeom>
            <a:avLst/>
            <a:gdLst/>
            <a:ahLst/>
            <a:cxnLst/>
            <a:rect l="l" t="t" r="r" b="b"/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6" name="Line 6"/>
          <p:cNvSpPr/>
          <p:nvPr/>
        </p:nvSpPr>
        <p:spPr>
          <a:xfrm>
            <a:off x="6096000" y="2133600"/>
            <a:ext cx="9525" cy="2819400"/>
          </a:xfrm>
          <a:custGeom>
            <a:avLst/>
            <a:gdLst/>
            <a:ahLst/>
            <a:cxnLst/>
            <a:rect l="l" t="t" r="r" b="b"/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7" name="Line 7"/>
          <p:cNvSpPr/>
          <p:nvPr/>
        </p:nvSpPr>
        <p:spPr>
          <a:xfrm>
            <a:off x="8839200" y="2133600"/>
            <a:ext cx="9525" cy="2819400"/>
          </a:xfrm>
          <a:custGeom>
            <a:avLst/>
            <a:gdLst/>
            <a:ahLst/>
            <a:cxnLst/>
            <a:rect l="l" t="t" r="r" b="b"/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/>
          <a:ln w="14288">
            <a:solidFill>
              <a:srgbClr val="D5DCD7"/>
            </a:solidFill>
          </a:ln>
        </p:spPr>
      </p:sp>
      <p:sp>
        <p:nvSpPr>
          <p:cNvPr id="8" name="asset-dot-1"/>
          <p:cNvSpPr/>
          <p:nvPr/>
        </p:nvSpPr>
        <p:spPr>
          <a:xfrm>
            <a:off x="838200" y="2133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asset-dot-2"/>
          <p:cNvSpPr/>
          <p:nvPr/>
        </p:nvSpPr>
        <p:spPr>
          <a:xfrm>
            <a:off x="3581400" y="2133600"/>
            <a:ext cx="152400" cy="152400"/>
          </a:xfrm>
          <a:prstGeom prst="ellipse">
            <a:avLst/>
          </a:prstGeom>
          <a:solidFill>
            <a:srgbClr val="3266A8"/>
          </a:solidFill>
          <a:ln>
            <a:noFill/>
          </a:ln>
        </p:spPr>
      </p:sp>
      <p:sp>
        <p:nvSpPr>
          <p:cNvPr id="10" name="asset-dot-3"/>
          <p:cNvSpPr/>
          <p:nvPr/>
        </p:nvSpPr>
        <p:spPr>
          <a:xfrm>
            <a:off x="6324600" y="21336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1" name="asset-dot-4"/>
          <p:cNvSpPr/>
          <p:nvPr/>
        </p:nvSpPr>
        <p:spPr>
          <a:xfrm>
            <a:off x="9067800" y="2133600"/>
            <a:ext cx="152400" cy="152400"/>
          </a:xfrm>
          <a:prstGeom prst="ellipse">
            <a:avLst/>
          </a:prstGeom>
          <a:solidFill>
            <a:srgbClr val="C45E4A"/>
          </a:solidFill>
          <a:ln>
            <a:noFill/>
          </a:ln>
        </p:spPr>
      </p:sp>
      <p:sp>
        <p:nvSpPr>
          <p:cNvPr id="12" name="asset-type-1"/>
          <p:cNvSpPr txBox="1"/>
          <p:nvPr/>
        </p:nvSpPr>
        <p:spPr>
          <a:xfrm>
            <a:off x="906780" y="2590800"/>
            <a:ext cx="8351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台股 ETF</a:t>
            </a:r>
          </a:p>
        </p:txBody>
      </p:sp>
      <p:sp>
        <p:nvSpPr>
          <p:cNvPr id="13" name="asset-name-1"/>
          <p:cNvSpPr txBox="1"/>
          <p:nvPr/>
        </p:nvSpPr>
        <p:spPr>
          <a:xfrm>
            <a:off x="901446" y="3054350"/>
            <a:ext cx="124565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台灣 50</a:t>
            </a:r>
          </a:p>
        </p:txBody>
      </p:sp>
      <p:sp>
        <p:nvSpPr>
          <p:cNvPr id="14" name="asset-ticker-1"/>
          <p:cNvSpPr txBox="1"/>
          <p:nvPr/>
        </p:nvSpPr>
        <p:spPr>
          <a:xfrm>
            <a:off x="906018" y="3721100"/>
            <a:ext cx="10148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0050.TW</a:t>
            </a:r>
          </a:p>
        </p:txBody>
      </p:sp>
      <p:sp>
        <p:nvSpPr>
          <p:cNvPr id="15" name="asset-currency-1"/>
          <p:cNvSpPr txBox="1"/>
          <p:nvPr/>
        </p:nvSpPr>
        <p:spPr>
          <a:xfrm>
            <a:off x="907161" y="4184650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新台幣計價</a:t>
            </a:r>
          </a:p>
        </p:txBody>
      </p:sp>
      <p:sp>
        <p:nvSpPr>
          <p:cNvPr id="16" name="asset-type-2"/>
          <p:cNvSpPr txBox="1"/>
          <p:nvPr/>
        </p:nvSpPr>
        <p:spPr>
          <a:xfrm>
            <a:off x="3649980" y="2590800"/>
            <a:ext cx="8351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美股 ETF</a:t>
            </a:r>
          </a:p>
        </p:txBody>
      </p:sp>
      <p:sp>
        <p:nvSpPr>
          <p:cNvPr id="17" name="asset-name-2"/>
          <p:cNvSpPr txBox="1"/>
          <p:nvPr/>
        </p:nvSpPr>
        <p:spPr>
          <a:xfrm>
            <a:off x="3644646" y="3054350"/>
            <a:ext cx="169075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S&amp;P 500</a:t>
            </a:r>
          </a:p>
        </p:txBody>
      </p:sp>
      <p:sp>
        <p:nvSpPr>
          <p:cNvPr id="18" name="asset-ticker-2"/>
          <p:cNvSpPr txBox="1"/>
          <p:nvPr/>
        </p:nvSpPr>
        <p:spPr>
          <a:xfrm>
            <a:off x="3649218" y="3721100"/>
            <a:ext cx="4233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3266A8"/>
                </a:solidFill>
                <a:latin typeface="+mn-lt"/>
                <a:ea typeface="+mn-ea"/>
                <a:cs typeface="+mn-cs"/>
              </a:rPr>
              <a:t>SPY</a:t>
            </a:r>
          </a:p>
        </p:txBody>
      </p:sp>
      <p:sp>
        <p:nvSpPr>
          <p:cNvPr id="19" name="asset-currency-2"/>
          <p:cNvSpPr txBox="1"/>
          <p:nvPr/>
        </p:nvSpPr>
        <p:spPr>
          <a:xfrm>
            <a:off x="3650361" y="418465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美元，換算為台幣</a:t>
            </a:r>
          </a:p>
        </p:txBody>
      </p:sp>
      <p:sp>
        <p:nvSpPr>
          <p:cNvPr id="20" name="asset-type-3"/>
          <p:cNvSpPr txBox="1"/>
          <p:nvPr/>
        </p:nvSpPr>
        <p:spPr>
          <a:xfrm>
            <a:off x="6393180" y="25908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加密資產</a:t>
            </a:r>
          </a:p>
        </p:txBody>
      </p:sp>
      <p:sp>
        <p:nvSpPr>
          <p:cNvPr id="21" name="asset-name-3"/>
          <p:cNvSpPr txBox="1"/>
          <p:nvPr/>
        </p:nvSpPr>
        <p:spPr>
          <a:xfrm>
            <a:off x="6387846" y="3067050"/>
            <a:ext cx="105575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比特幣</a:t>
            </a:r>
          </a:p>
        </p:txBody>
      </p:sp>
      <p:sp>
        <p:nvSpPr>
          <p:cNvPr id="22" name="asset-ticker-3"/>
          <p:cNvSpPr txBox="1"/>
          <p:nvPr/>
        </p:nvSpPr>
        <p:spPr>
          <a:xfrm>
            <a:off x="6392418" y="3721100"/>
            <a:ext cx="96552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B37B16"/>
                </a:solidFill>
                <a:latin typeface="+mn-lt"/>
                <a:ea typeface="+mn-ea"/>
                <a:cs typeface="+mn-cs"/>
              </a:rPr>
              <a:t>BTC-USD</a:t>
            </a:r>
          </a:p>
        </p:txBody>
      </p:sp>
      <p:sp>
        <p:nvSpPr>
          <p:cNvPr id="23" name="asset-currency-3"/>
          <p:cNvSpPr txBox="1"/>
          <p:nvPr/>
        </p:nvSpPr>
        <p:spPr>
          <a:xfrm>
            <a:off x="6393561" y="418465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美元，換算為台幣</a:t>
            </a:r>
          </a:p>
        </p:txBody>
      </p:sp>
      <p:sp>
        <p:nvSpPr>
          <p:cNvPr id="24" name="asset-type-4"/>
          <p:cNvSpPr txBox="1"/>
          <p:nvPr/>
        </p:nvSpPr>
        <p:spPr>
          <a:xfrm>
            <a:off x="9136380" y="2590800"/>
            <a:ext cx="8351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黃金 ETF</a:t>
            </a:r>
          </a:p>
        </p:txBody>
      </p:sp>
      <p:sp>
        <p:nvSpPr>
          <p:cNvPr id="25" name="asset-name-4"/>
          <p:cNvSpPr txBox="1"/>
          <p:nvPr/>
        </p:nvSpPr>
        <p:spPr>
          <a:xfrm>
            <a:off x="9131046" y="3054350"/>
            <a:ext cx="194765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SPDR Gold</a:t>
            </a:r>
          </a:p>
        </p:txBody>
      </p:sp>
      <p:sp>
        <p:nvSpPr>
          <p:cNvPr id="26" name="asset-ticker-4"/>
          <p:cNvSpPr txBox="1"/>
          <p:nvPr/>
        </p:nvSpPr>
        <p:spPr>
          <a:xfrm>
            <a:off x="9135618" y="3721100"/>
            <a:ext cx="4233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C45E4A"/>
                </a:solidFill>
                <a:latin typeface="+mn-lt"/>
                <a:ea typeface="+mn-ea"/>
                <a:cs typeface="+mn-cs"/>
              </a:rPr>
              <a:t>GLD</a:t>
            </a:r>
          </a:p>
        </p:txBody>
      </p:sp>
      <p:sp>
        <p:nvSpPr>
          <p:cNvPr id="27" name="asset-currency-4"/>
          <p:cNvSpPr txBox="1"/>
          <p:nvPr/>
        </p:nvSpPr>
        <p:spPr>
          <a:xfrm>
            <a:off x="9136761" y="418465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美元，換算為台幣</a:t>
            </a:r>
          </a:p>
        </p:txBody>
      </p:sp>
      <p:sp>
        <p:nvSpPr>
          <p:cNvPr id="28" name="disclosure"/>
          <p:cNvSpPr txBox="1"/>
          <p:nvPr/>
        </p:nvSpPr>
        <p:spPr>
          <a:xfrm>
            <a:off x="602361" y="5441950"/>
            <a:ext cx="61316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這是專題選定的四個代表標的；不等於整個股票、加密貨幣或黃金市場。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398606" y="63627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3123" y="304800"/>
            <a:ext cx="10735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　網站流程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92836" y="660400"/>
            <a:ext cx="53644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從輸入本金到看見兩類結果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37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5DCD7"/>
            </a:solidFill>
          </a:ln>
        </p:spPr>
      </p:sp>
      <p:sp>
        <p:nvSpPr>
          <p:cNvPr id="5" name="Line 5"/>
          <p:cNvSpPr/>
          <p:nvPr/>
        </p:nvSpPr>
        <p:spPr>
          <a:xfrm>
            <a:off x="1219200" y="2457450"/>
            <a:ext cx="9734550" cy="9525"/>
          </a:xfrm>
          <a:custGeom>
            <a:avLst/>
            <a:gdLst/>
            <a:ahLst/>
            <a:cxnLst/>
            <a:rect l="l" t="t" r="r" b="b"/>
            <a:pathLst>
              <a:path w="9734550" h="9525">
                <a:moveTo>
                  <a:pt x="0" y="0"/>
                </a:moveTo>
                <a:lnTo>
                  <a:pt x="9734550" y="0"/>
                </a:lnTo>
              </a:path>
            </a:pathLst>
          </a:custGeom>
          <a:noFill/>
          <a:ln w="28575">
            <a:solidFill>
              <a:srgbClr val="D5DCD7"/>
            </a:solidFill>
          </a:ln>
        </p:spPr>
      </p:sp>
      <p:sp>
        <p:nvSpPr>
          <p:cNvPr id="6" name="flow-node-1"/>
          <p:cNvSpPr/>
          <p:nvPr/>
        </p:nvSpPr>
        <p:spPr>
          <a:xfrm>
            <a:off x="1285875" y="2219325"/>
            <a:ext cx="476250" cy="4762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low-node-2"/>
          <p:cNvSpPr/>
          <p:nvPr/>
        </p:nvSpPr>
        <p:spPr>
          <a:xfrm>
            <a:off x="3952875" y="2219325"/>
            <a:ext cx="476250" cy="476250"/>
          </a:xfrm>
          <a:prstGeom prst="ellipse">
            <a:avLst/>
          </a:prstGeom>
          <a:solidFill>
            <a:srgbClr val="3266A8"/>
          </a:solidFill>
          <a:ln>
            <a:noFill/>
          </a:ln>
        </p:spPr>
      </p:sp>
      <p:sp>
        <p:nvSpPr>
          <p:cNvPr id="8" name="flow-node-3"/>
          <p:cNvSpPr/>
          <p:nvPr/>
        </p:nvSpPr>
        <p:spPr>
          <a:xfrm>
            <a:off x="6619875" y="2219325"/>
            <a:ext cx="476250" cy="476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flow-node-4"/>
          <p:cNvSpPr/>
          <p:nvPr/>
        </p:nvSpPr>
        <p:spPr>
          <a:xfrm>
            <a:off x="9286875" y="221932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flow-step-1"/>
          <p:cNvSpPr txBox="1"/>
          <p:nvPr/>
        </p:nvSpPr>
        <p:spPr>
          <a:xfrm>
            <a:off x="1451480" y="2330450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1" name="flow-step-2"/>
          <p:cNvSpPr txBox="1"/>
          <p:nvPr/>
        </p:nvSpPr>
        <p:spPr>
          <a:xfrm>
            <a:off x="4118480" y="2330450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2" name="flow-step-3"/>
          <p:cNvSpPr txBox="1"/>
          <p:nvPr/>
        </p:nvSpPr>
        <p:spPr>
          <a:xfrm>
            <a:off x="6785480" y="2330450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3" name="flow-step-4"/>
          <p:cNvSpPr txBox="1"/>
          <p:nvPr/>
        </p:nvSpPr>
        <p:spPr>
          <a:xfrm>
            <a:off x="9452480" y="2330450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14" name="flow-label-1"/>
          <p:cNvSpPr txBox="1"/>
          <p:nvPr/>
        </p:nvSpPr>
        <p:spPr>
          <a:xfrm>
            <a:off x="1293495" y="2806700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設定</a:t>
            </a:r>
          </a:p>
        </p:txBody>
      </p:sp>
      <p:sp>
        <p:nvSpPr>
          <p:cNvPr id="15" name="flow-copy-1"/>
          <p:cNvSpPr txBox="1"/>
          <p:nvPr/>
        </p:nvSpPr>
        <p:spPr>
          <a:xfrm>
            <a:off x="828269" y="3200400"/>
            <a:ext cx="139146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ja-JP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本金・期間・標的</a:t>
            </a:r>
          </a:p>
        </p:txBody>
      </p:sp>
      <p:sp>
        <p:nvSpPr>
          <p:cNvPr id="16" name="flow-label-2"/>
          <p:cNvSpPr txBox="1"/>
          <p:nvPr/>
        </p:nvSpPr>
        <p:spPr>
          <a:xfrm>
            <a:off x="3738372" y="28067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取得資料</a:t>
            </a:r>
          </a:p>
        </p:txBody>
      </p:sp>
      <p:sp>
        <p:nvSpPr>
          <p:cNvPr id="17" name="flow-copy-2"/>
          <p:cNvSpPr txBox="1"/>
          <p:nvPr/>
        </p:nvSpPr>
        <p:spPr>
          <a:xfrm>
            <a:off x="3753739" y="3200400"/>
            <a:ext cx="87452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價格與匯率</a:t>
            </a:r>
          </a:p>
        </p:txBody>
      </p:sp>
      <p:sp>
        <p:nvSpPr>
          <p:cNvPr id="18" name="flow-label-3"/>
          <p:cNvSpPr txBox="1"/>
          <p:nvPr/>
        </p:nvSpPr>
        <p:spPr>
          <a:xfrm>
            <a:off x="6627495" y="2806700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計算</a:t>
            </a:r>
          </a:p>
        </p:txBody>
      </p:sp>
      <p:sp>
        <p:nvSpPr>
          <p:cNvPr id="19" name="flow-copy-3"/>
          <p:cNvSpPr txBox="1"/>
          <p:nvPr/>
        </p:nvSpPr>
        <p:spPr>
          <a:xfrm>
            <a:off x="6420739" y="3200400"/>
            <a:ext cx="87452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回測與模型</a:t>
            </a:r>
          </a:p>
        </p:txBody>
      </p:sp>
      <p:sp>
        <p:nvSpPr>
          <p:cNvPr id="20" name="flow-label-4"/>
          <p:cNvSpPr txBox="1"/>
          <p:nvPr/>
        </p:nvSpPr>
        <p:spPr>
          <a:xfrm>
            <a:off x="9294495" y="2806700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檢視</a:t>
            </a:r>
          </a:p>
        </p:txBody>
      </p:sp>
      <p:sp>
        <p:nvSpPr>
          <p:cNvPr id="21" name="flow-copy-4"/>
          <p:cNvSpPr txBox="1"/>
          <p:nvPr/>
        </p:nvSpPr>
        <p:spPr>
          <a:xfrm>
            <a:off x="8829269" y="3200400"/>
            <a:ext cx="139146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金額、風險、誤差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0" y="363855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3" name="Line 23"/>
          <p:cNvSpPr/>
          <p:nvPr/>
        </p:nvSpPr>
        <p:spPr>
          <a:xfrm>
            <a:off x="6858000" y="424815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24" name="Line 24"/>
          <p:cNvSpPr/>
          <p:nvPr/>
        </p:nvSpPr>
        <p:spPr>
          <a:xfrm>
            <a:off x="9620250" y="42481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25" name="history-dot"/>
          <p:cNvSpPr/>
          <p:nvPr/>
        </p:nvSpPr>
        <p:spPr>
          <a:xfrm>
            <a:off x="6791325" y="4391025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forecast-dot"/>
          <p:cNvSpPr/>
          <p:nvPr/>
        </p:nvSpPr>
        <p:spPr>
          <a:xfrm>
            <a:off x="9553575" y="4391025"/>
            <a:ext cx="133350" cy="1333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7" name="history-output"/>
          <p:cNvSpPr txBox="1"/>
          <p:nvPr/>
        </p:nvSpPr>
        <p:spPr>
          <a:xfrm>
            <a:off x="6405372" y="47117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歷史回測</a:t>
            </a:r>
          </a:p>
        </p:txBody>
      </p:sp>
      <p:sp>
        <p:nvSpPr>
          <p:cNvPr id="28" name="history-detail"/>
          <p:cNvSpPr txBox="1"/>
          <p:nvPr/>
        </p:nvSpPr>
        <p:spPr>
          <a:xfrm>
            <a:off x="5989955" y="5086350"/>
            <a:ext cx="173609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ja-JP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價值走勢・報酬・風險</a:t>
            </a:r>
          </a:p>
        </p:txBody>
      </p:sp>
      <p:sp>
        <p:nvSpPr>
          <p:cNvPr id="29" name="forecast-output"/>
          <p:cNvSpPr txBox="1"/>
          <p:nvPr/>
        </p:nvSpPr>
        <p:spPr>
          <a:xfrm>
            <a:off x="9167622" y="47117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650" b="1" dirty="0">
                <a:solidFill>
                  <a:srgbClr val="B37B16"/>
                </a:solidFill>
                <a:latin typeface="+mn-lt"/>
                <a:ea typeface="+mn-ea"/>
                <a:cs typeface="+mn-cs"/>
              </a:rPr>
              <a:t>預測情境</a:t>
            </a:r>
          </a:p>
        </p:txBody>
      </p:sp>
      <p:sp>
        <p:nvSpPr>
          <p:cNvPr id="30" name="forecast-detail"/>
          <p:cNvSpPr txBox="1"/>
          <p:nvPr/>
        </p:nvSpPr>
        <p:spPr>
          <a:xfrm>
            <a:off x="8752205" y="5086350"/>
            <a:ext cx="173609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ja-JP" sz="12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估算金額・誤差・區間</a:t>
            </a:r>
          </a:p>
        </p:txBody>
      </p:sp>
      <p:sp>
        <p:nvSpPr>
          <p:cNvPr id="31" name="takeaway"/>
          <p:cNvSpPr txBox="1"/>
          <p:nvPr/>
        </p:nvSpPr>
        <p:spPr>
          <a:xfrm>
            <a:off x="601980" y="5791200"/>
            <a:ext cx="6477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兩類輸出分開呈現：回測是歷史模擬，模型是基於歷史資料的情境估算。</a:t>
            </a:r>
          </a:p>
        </p:txBody>
      </p:sp>
      <p:sp>
        <p:nvSpPr>
          <p:cNvPr id="32" name="page-number"/>
          <p:cNvSpPr txBox="1"/>
          <p:nvPr/>
        </p:nvSpPr>
        <p:spPr>
          <a:xfrm>
            <a:off x="11398606" y="63627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3180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先統一資料，再比較投資結果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66800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+mn-lt"/>
                <a:ea typeface="+mn-ea"/>
                <a:cs typeface="+mn-cs"/>
              </a:rPr>
              <a:t>同一段期間、同一種頻率、相同的缺值規則</a:t>
            </a:r>
          </a:p>
        </p:txBody>
      </p:sp>
      <p:sp>
        <p:nvSpPr>
          <p:cNvPr id="5" name="Rectangle 5"/>
          <p:cNvSpPr/>
          <p:nvPr/>
        </p:nvSpPr>
        <p:spPr>
          <a:xfrm>
            <a:off x="742950" y="1924050"/>
            <a:ext cx="2324100" cy="1638300"/>
          </a:xfrm>
          <a:prstGeom prst="roundRect">
            <a:avLst>
              <a:gd name="adj" fmla="val 9302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39368" y="2159000"/>
            <a:ext cx="12140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+mn-lt"/>
                <a:ea typeface="+mn-ea"/>
                <a:cs typeface="+mn-cs"/>
              </a:rPr>
              <a:t>01 取得價格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0130" y="2590800"/>
            <a:ext cx="15801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用 yfinance 下載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8956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每日收盤價</a:t>
            </a:r>
          </a:p>
        </p:txBody>
      </p:sp>
      <p:sp>
        <p:nvSpPr>
          <p:cNvPr id="9" name="Rectangle 9"/>
          <p:cNvSpPr/>
          <p:nvPr/>
        </p:nvSpPr>
        <p:spPr>
          <a:xfrm>
            <a:off x="3486150" y="1924050"/>
            <a:ext cx="2324100" cy="1638300"/>
          </a:xfrm>
          <a:prstGeom prst="roundRect">
            <a:avLst>
              <a:gd name="adj" fmla="val 9302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82568" y="2159000"/>
            <a:ext cx="12140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+mn-lt"/>
                <a:ea typeface="+mn-ea"/>
                <a:cs typeface="+mn-cs"/>
              </a:rPr>
              <a:t>02 對齊日期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83330" y="25908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統一觀察期間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83330" y="28956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標記缺值與時區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29350" y="1924050"/>
            <a:ext cx="2324100" cy="1638300"/>
          </a:xfrm>
          <a:prstGeom prst="roundRect">
            <a:avLst>
              <a:gd name="adj" fmla="val 9302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25768" y="2159000"/>
            <a:ext cx="12140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+mn-lt"/>
                <a:ea typeface="+mn-ea"/>
                <a:cs typeface="+mn-cs"/>
              </a:rPr>
              <a:t>03 換算報酬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26530" y="25908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比較百分比變化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6530" y="28956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不直接比價格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972550" y="1924050"/>
            <a:ext cx="2324100" cy="1638300"/>
          </a:xfrm>
          <a:prstGeom prst="roundRect">
            <a:avLst>
              <a:gd name="adj" fmla="val 9302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68968" y="2159000"/>
            <a:ext cx="12140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+mn-lt"/>
                <a:ea typeface="+mn-ea"/>
                <a:cs typeface="+mn-cs"/>
              </a:rPr>
              <a:t>04 顯示來源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69730" y="25908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資料更新日期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69730" y="28956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與失敗狀態</a:t>
            </a:r>
          </a:p>
        </p:txBody>
      </p:sp>
      <p:sp>
        <p:nvSpPr>
          <p:cNvPr id="21" name="Line 21"/>
          <p:cNvSpPr/>
          <p:nvPr/>
        </p:nvSpPr>
        <p:spPr>
          <a:xfrm>
            <a:off x="3067050" y="27432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38100">
            <a:solidFill>
              <a:srgbClr val="177E78"/>
            </a:solidFill>
          </a:ln>
        </p:spPr>
      </p:sp>
      <p:sp>
        <p:nvSpPr>
          <p:cNvPr id="22" name="Line 22"/>
          <p:cNvSpPr/>
          <p:nvPr/>
        </p:nvSpPr>
        <p:spPr>
          <a:xfrm>
            <a:off x="5810250" y="27432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38100">
            <a:solidFill>
              <a:srgbClr val="177E78"/>
            </a:solidFill>
          </a:ln>
        </p:spPr>
      </p:sp>
      <p:sp>
        <p:nvSpPr>
          <p:cNvPr id="23" name="Line 23"/>
          <p:cNvSpPr/>
          <p:nvPr/>
        </p:nvSpPr>
        <p:spPr>
          <a:xfrm>
            <a:off x="8553450" y="27432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38100">
            <a:solidFill>
              <a:srgbClr val="177E7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34568" y="42926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資料限制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5330" y="4724400"/>
            <a:ext cx="5871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不同交易日、休市日與加密貨幣全天交易，會影響可比較的日期。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5330" y="5124450"/>
            <a:ext cx="54168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網站目前使用 yfinance 資料下載；尚未完成通用網頁爬蟲。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6854" y="6210300"/>
            <a:ext cx="16153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DATA PIPELINE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比較前提要先說清楚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模擬結果會跟著設定改變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4192" y="1949450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B6812E"/>
                </a:solidFill>
                <a:latin typeface="+mn-lt"/>
                <a:ea typeface="+mn-ea"/>
                <a:cs typeface="+mn-cs"/>
              </a:rPr>
              <a:t>設定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93642" y="194945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B6812E"/>
                </a:solidFill>
                <a:latin typeface="+mn-lt"/>
                <a:ea typeface="+mn-ea"/>
                <a:cs typeface="+mn-cs"/>
              </a:rPr>
              <a:t>本專題做法</a:t>
            </a:r>
          </a:p>
        </p:txBody>
      </p:sp>
      <p:sp>
        <p:nvSpPr>
          <p:cNvPr id="7" name="Line 7"/>
          <p:cNvSpPr/>
          <p:nvPr/>
        </p:nvSpPr>
        <p:spPr>
          <a:xfrm>
            <a:off x="742950" y="230505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19050">
            <a:solidFill>
              <a:srgbClr val="D4D8D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72668" y="2568575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投資本金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92499" y="2581275"/>
            <a:ext cx="341919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由使用者輸入，畫面以固定本金示範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300990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9525">
            <a:solidFill>
              <a:srgbClr val="D4D8D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72668" y="3273425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持有期間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92499" y="3286125"/>
            <a:ext cx="2781097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可選期間，需有足夠歷史資料</a:t>
            </a:r>
          </a:p>
        </p:txBody>
      </p:sp>
      <p:sp>
        <p:nvSpPr>
          <p:cNvPr id="13" name="Line 13"/>
          <p:cNvSpPr/>
          <p:nvPr/>
        </p:nvSpPr>
        <p:spPr>
          <a:xfrm>
            <a:off x="742950" y="371475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9525">
            <a:solidFill>
              <a:srgbClr val="D4D8D2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72668" y="3978275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買入方式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92499" y="3990975"/>
            <a:ext cx="299379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一次投入或定期投入，分開計算</a:t>
            </a:r>
          </a:p>
        </p:txBody>
      </p:sp>
      <p:sp>
        <p:nvSpPr>
          <p:cNvPr id="16" name="Line 16"/>
          <p:cNvSpPr/>
          <p:nvPr/>
        </p:nvSpPr>
        <p:spPr>
          <a:xfrm>
            <a:off x="742950" y="441960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9525">
            <a:solidFill>
              <a:srgbClr val="D4D8D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72668" y="4683125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額外成本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92499" y="4695825"/>
            <a:ext cx="363189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目前未計手續費、稅、滑價與匯兌成本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42950" y="5391150"/>
            <a:ext cx="10534650" cy="628650"/>
          </a:xfrm>
          <a:prstGeom prst="roundRect">
            <a:avLst>
              <a:gd name="adj" fmla="val 18182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82599" y="5600700"/>
            <a:ext cx="490809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所以這是比較工具；結果不等於實際可拿到的報酬。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54" y="6343650"/>
            <a:ext cx="15867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ASSUMPTIONS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53644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投入方式改變資金進場路徑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比較同一筆預算，何時轉成持有部位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5568" y="18351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一次投入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68618" y="18351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定期投入</a:t>
            </a:r>
          </a:p>
        </p:txBody>
      </p:sp>
      <p:sp>
        <p:nvSpPr>
          <p:cNvPr id="7" name="Line 7"/>
          <p:cNvSpPr/>
          <p:nvPr/>
        </p:nvSpPr>
        <p:spPr>
          <a:xfrm>
            <a:off x="1066800" y="4438650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/>
          <a:ln w="19050">
            <a:solidFill>
              <a:srgbClr val="B8C2BE"/>
            </a:solidFill>
          </a:ln>
        </p:spPr>
      </p:sp>
      <p:sp>
        <p:nvSpPr>
          <p:cNvPr id="8" name="Line 8"/>
          <p:cNvSpPr/>
          <p:nvPr/>
        </p:nvSpPr>
        <p:spPr>
          <a:xfrm>
            <a:off x="6438900" y="4438650"/>
            <a:ext cx="4152900" cy="9525"/>
          </a:xfrm>
          <a:custGeom>
            <a:avLst/>
            <a:gdLst/>
            <a:ahLst/>
            <a:cxnLst/>
            <a:rect l="l" t="t" r="r" b="b"/>
            <a:pathLst>
              <a:path w="4152900" h="9525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/>
          <a:ln w="19050">
            <a:solidFill>
              <a:srgbClr val="B8C2B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428750" y="2724150"/>
            <a:ext cx="685800" cy="1714500"/>
          </a:xfrm>
          <a:prstGeom prst="roundRect">
            <a:avLst>
              <a:gd name="adj" fmla="val 12500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343150" y="3543300"/>
            <a:ext cx="685800" cy="895350"/>
          </a:xfrm>
          <a:prstGeom prst="roundRect">
            <a:avLst>
              <a:gd name="adj" fmla="val 12500"/>
            </a:avLst>
          </a:prstGeom>
          <a:solidFill>
            <a:srgbClr val="D9E6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257550" y="3543300"/>
            <a:ext cx="685800" cy="895350"/>
          </a:xfrm>
          <a:prstGeom prst="roundRect">
            <a:avLst>
              <a:gd name="adj" fmla="val 12500"/>
            </a:avLst>
          </a:prstGeom>
          <a:solidFill>
            <a:srgbClr val="D9E6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171950" y="3543300"/>
            <a:ext cx="685800" cy="895350"/>
          </a:xfrm>
          <a:prstGeom prst="roundRect">
            <a:avLst>
              <a:gd name="adj" fmla="val 12500"/>
            </a:avLst>
          </a:prstGeom>
          <a:solidFill>
            <a:srgbClr val="D9E6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743700" y="3810000"/>
            <a:ext cx="685800" cy="628650"/>
          </a:xfrm>
          <a:prstGeom prst="roundRect">
            <a:avLst>
              <a:gd name="adj" fmla="val 13636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7658100" y="3371850"/>
            <a:ext cx="685800" cy="1066800"/>
          </a:xfrm>
          <a:prstGeom prst="roundRect">
            <a:avLst>
              <a:gd name="adj" fmla="val 12500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572500" y="2933700"/>
            <a:ext cx="685800" cy="1504950"/>
          </a:xfrm>
          <a:prstGeom prst="roundRect">
            <a:avLst>
              <a:gd name="adj" fmla="val 12500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9486900" y="2495550"/>
            <a:ext cx="685800" cy="1943100"/>
          </a:xfrm>
          <a:prstGeom prst="roundRect">
            <a:avLst>
              <a:gd name="adj" fmla="val 12500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88161" y="4737100"/>
            <a:ext cx="13526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一開始投入較多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93611" y="473710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分期轉成持有部位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430" y="5353050"/>
            <a:ext cx="68808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左：本金較早承受市場變化。右：資金分批進場，未投入部分也有時間成本。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3811" y="5727700"/>
            <a:ext cx="59404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示意圖，不代表實際價格或報酬；現行預測假設本金於起點全額投入。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54" y="6343650"/>
            <a:ext cx="1359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CASH FLOW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53644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期末報酬不能代表全部風險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兩條路徑可能到達相似終點，途中波動卻不同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504825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19050">
            <a:solidFill>
              <a:srgbClr val="B8C2BE"/>
            </a:solidFill>
          </a:ln>
        </p:spPr>
      </p:sp>
      <p:sp>
        <p:nvSpPr>
          <p:cNvPr id="6" name="Line 6"/>
          <p:cNvSpPr/>
          <p:nvPr/>
        </p:nvSpPr>
        <p:spPr>
          <a:xfrm>
            <a:off x="1143000" y="2095500"/>
            <a:ext cx="9525" cy="2952750"/>
          </a:xfrm>
          <a:custGeom>
            <a:avLst/>
            <a:gdLst/>
            <a:ahLst/>
            <a:cxnLst/>
            <a:rect l="l" t="t" r="r" b="b"/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/>
          <a:ln w="19050">
            <a:solidFill>
              <a:srgbClr val="B8C2BE"/>
            </a:solidFill>
          </a:ln>
        </p:spPr>
      </p:sp>
      <p:sp>
        <p:nvSpPr>
          <p:cNvPr id="7" name="Polyline 7"/>
          <p:cNvSpPr/>
          <p:nvPr/>
        </p:nvSpPr>
        <p:spPr>
          <a:xfrm>
            <a:off x="1143000" y="1952625"/>
            <a:ext cx="9620250" cy="2619375"/>
          </a:xfrm>
          <a:custGeom>
            <a:avLst/>
            <a:gdLst/>
            <a:ahLst/>
            <a:cxnLst/>
            <a:rect l="l" t="t" r="r" b="b"/>
            <a:pathLst>
              <a:path w="9620250" h="2619375">
                <a:moveTo>
                  <a:pt x="0" y="2619375"/>
                </a:moveTo>
                <a:lnTo>
                  <a:pt x="1190625" y="2143125"/>
                </a:lnTo>
                <a:lnTo>
                  <a:pt x="2381250" y="2381250"/>
                </a:lnTo>
                <a:lnTo>
                  <a:pt x="3571875" y="1285875"/>
                </a:lnTo>
                <a:lnTo>
                  <a:pt x="4762500" y="1619250"/>
                </a:lnTo>
                <a:lnTo>
                  <a:pt x="5953125" y="904875"/>
                </a:lnTo>
                <a:lnTo>
                  <a:pt x="7143750" y="1190625"/>
                </a:lnTo>
                <a:lnTo>
                  <a:pt x="8334375" y="333375"/>
                </a:lnTo>
                <a:lnTo>
                  <a:pt x="9620250" y="0"/>
                </a:lnTo>
              </a:path>
            </a:pathLst>
          </a:custGeom>
          <a:noFill/>
          <a:ln w="57150">
            <a:solidFill>
              <a:srgbClr val="177E78"/>
            </a:solidFill>
          </a:ln>
        </p:spPr>
      </p:sp>
      <p:sp>
        <p:nvSpPr>
          <p:cNvPr id="8" name="Polyline 8"/>
          <p:cNvSpPr/>
          <p:nvPr/>
        </p:nvSpPr>
        <p:spPr>
          <a:xfrm>
            <a:off x="1143000" y="1952625"/>
            <a:ext cx="9620250" cy="2619375"/>
          </a:xfrm>
          <a:custGeom>
            <a:avLst/>
            <a:gdLst/>
            <a:ahLst/>
            <a:cxnLst/>
            <a:rect l="l" t="t" r="r" b="b"/>
            <a:pathLst>
              <a:path w="9620250" h="2619375">
                <a:moveTo>
                  <a:pt x="0" y="2619375"/>
                </a:moveTo>
                <a:lnTo>
                  <a:pt x="1190625" y="2476500"/>
                </a:lnTo>
                <a:lnTo>
                  <a:pt x="2381250" y="2238375"/>
                </a:lnTo>
                <a:lnTo>
                  <a:pt x="3571875" y="1905000"/>
                </a:lnTo>
                <a:lnTo>
                  <a:pt x="4762500" y="1524000"/>
                </a:lnTo>
                <a:lnTo>
                  <a:pt x="5953125" y="1238250"/>
                </a:lnTo>
                <a:lnTo>
                  <a:pt x="7143750" y="809625"/>
                </a:lnTo>
                <a:lnTo>
                  <a:pt x="8334375" y="428625"/>
                </a:lnTo>
                <a:lnTo>
                  <a:pt x="9620250" y="0"/>
                </a:lnTo>
              </a:path>
            </a:pathLst>
          </a:custGeom>
          <a:noFill/>
          <a:ln w="47625">
            <a:solidFill>
              <a:srgbClr val="B6812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16380" y="53816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起點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380" y="53816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期末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88886" y="1708150"/>
            <a:ext cx="17349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177E78"/>
                </a:solidFill>
                <a:latin typeface="Microsoft JhengHei"/>
                <a:ea typeface="Microsoft JhengHei"/>
                <a:cs typeface="Microsoft JhengHei"/>
              </a:rPr>
              <a:t>波動較大的示意路徑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88886" y="203200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B6812E"/>
                </a:solidFill>
                <a:latin typeface="Microsoft JhengHei"/>
                <a:ea typeface="Microsoft JhengHei"/>
                <a:cs typeface="Microsoft JhengHei"/>
              </a:rPr>
              <a:t>較平順的示意路徑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143000" y="5829300"/>
            <a:ext cx="9620250" cy="457200"/>
          </a:xfrm>
          <a:prstGeom prst="roundRect">
            <a:avLst>
              <a:gd name="adj" fmla="val 20833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64361" y="5946775"/>
            <a:ext cx="61316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應同時觀察累積報酬、最大回撤與波動；此圖為概念示意，非實測資料。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854" y="6457950"/>
            <a:ext cx="7427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RISK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37465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一個網站，分開看歷史與預測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611" y="984250"/>
            <a:ext cx="28818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介面概念示意，並非實際網站截圖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504950"/>
            <a:ext cx="10858500" cy="466725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9050">
            <a:solidFill>
              <a:srgbClr val="D4D8D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66750" y="1504950"/>
            <a:ext cx="10858500" cy="514350"/>
          </a:xfrm>
          <a:prstGeom prst="roundRect">
            <a:avLst>
              <a:gd name="adj" fmla="val 33333"/>
            </a:avLst>
          </a:prstGeom>
          <a:solidFill>
            <a:srgbClr val="142B3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5830" y="1647825"/>
            <a:ext cx="17106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PORTFOLIO LAB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51773" y="1685925"/>
            <a:ext cx="156377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歷史模擬　預測說明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218" y="22352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試算本金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90600" y="2571750"/>
            <a:ext cx="2095500" cy="457200"/>
          </a:xfrm>
          <a:prstGeom prst="roundRect">
            <a:avLst>
              <a:gd name="adj" fmla="val 16667"/>
            </a:avLst>
          </a:prstGeom>
          <a:solidFill>
            <a:srgbClr val="F7F5EF"/>
          </a:solidFill>
          <a:ln w="9525">
            <a:solidFill>
              <a:srgbClr val="B8C2B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92911" y="2698750"/>
            <a:ext cx="1182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2575D"/>
                </a:solidFill>
                <a:latin typeface="+mn-lt"/>
                <a:ea typeface="+mn-ea"/>
                <a:cs typeface="+mn-cs"/>
              </a:rPr>
              <a:t>NT$ 100,000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8718" y="2235200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標的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467100" y="2571750"/>
            <a:ext cx="2381250" cy="457200"/>
          </a:xfrm>
          <a:prstGeom prst="roundRect">
            <a:avLst>
              <a:gd name="adj" fmla="val 16667"/>
            </a:avLst>
          </a:prstGeom>
          <a:solidFill>
            <a:srgbClr val="F7F5EF"/>
          </a:solidFill>
          <a:ln w="9525">
            <a:solidFill>
              <a:srgbClr val="B8C2B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69411" y="2698750"/>
            <a:ext cx="7149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+mn-lt"/>
                <a:ea typeface="+mn-ea"/>
                <a:cs typeface="+mn-cs"/>
              </a:rPr>
              <a:t>SPY　▼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10300" y="2571750"/>
            <a:ext cx="1714500" cy="457200"/>
          </a:xfrm>
          <a:prstGeom prst="roundRect">
            <a:avLst>
              <a:gd name="adj" fmla="val 16667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84442" y="27114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開始試算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90600" y="3333750"/>
            <a:ext cx="4762500" cy="2209800"/>
          </a:xfrm>
          <a:prstGeom prst="roundRect">
            <a:avLst>
              <a:gd name="adj" fmla="val 5172"/>
            </a:avLst>
          </a:prstGeom>
          <a:solidFill>
            <a:srgbClr val="F7F5E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30630" y="35052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歷史情境｜本金變化</a:t>
            </a:r>
          </a:p>
        </p:txBody>
      </p:sp>
      <p:sp>
        <p:nvSpPr>
          <p:cNvPr id="19" name="Polyline 19"/>
          <p:cNvSpPr/>
          <p:nvPr/>
        </p:nvSpPr>
        <p:spPr>
          <a:xfrm>
            <a:off x="1257300" y="4000500"/>
            <a:ext cx="4076700" cy="1066800"/>
          </a:xfrm>
          <a:custGeom>
            <a:avLst/>
            <a:gdLst/>
            <a:ahLst/>
            <a:cxnLst/>
            <a:rect l="l" t="t" r="r" b="b"/>
            <a:pathLst>
              <a:path w="4076700" h="1066800">
                <a:moveTo>
                  <a:pt x="0" y="1066800"/>
                </a:moveTo>
                <a:lnTo>
                  <a:pt x="647700" y="762000"/>
                </a:lnTo>
                <a:lnTo>
                  <a:pt x="1295400" y="857250"/>
                </a:lnTo>
                <a:lnTo>
                  <a:pt x="1943100" y="400050"/>
                </a:lnTo>
                <a:lnTo>
                  <a:pt x="2590800" y="533400"/>
                </a:lnTo>
                <a:lnTo>
                  <a:pt x="3238500" y="0"/>
                </a:lnTo>
                <a:lnTo>
                  <a:pt x="4076700" y="171450"/>
                </a:lnTo>
              </a:path>
            </a:pathLst>
          </a:custGeom>
          <a:noFill/>
          <a:ln w="47625">
            <a:solidFill>
              <a:srgbClr val="177E78"/>
            </a:solidFill>
          </a:ln>
        </p:spPr>
      </p:sp>
      <p:sp>
        <p:nvSpPr>
          <p:cNvPr id="20" name="Line 20"/>
          <p:cNvSpPr/>
          <p:nvPr/>
        </p:nvSpPr>
        <p:spPr>
          <a:xfrm>
            <a:off x="1257300" y="5219700"/>
            <a:ext cx="4171950" cy="9525"/>
          </a:xfrm>
          <a:custGeom>
            <a:avLst/>
            <a:gdLst/>
            <a:ahLst/>
            <a:cxnLst/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19050">
            <a:solidFill>
              <a:srgbClr val="B8C2B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251585" y="5289550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12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示意圖，非實測市場資料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00750" y="3333750"/>
            <a:ext cx="5181600" cy="2209800"/>
          </a:xfrm>
          <a:prstGeom prst="roundRect">
            <a:avLst>
              <a:gd name="adj" fmla="val 5172"/>
            </a:avLst>
          </a:prstGeom>
          <a:solidFill>
            <a:srgbClr val="F7F5E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240780" y="3505200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預測情境｜範圍與限制</a:t>
            </a:r>
          </a:p>
        </p:txBody>
      </p:sp>
      <p:sp>
        <p:nvSpPr>
          <p:cNvPr id="24" name="Line 24"/>
          <p:cNvSpPr/>
          <p:nvPr/>
        </p:nvSpPr>
        <p:spPr>
          <a:xfrm>
            <a:off x="6572250" y="46482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76200">
            <a:solidFill>
              <a:srgbClr val="B6812E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448675" y="4524375"/>
            <a:ext cx="247650" cy="247650"/>
          </a:xfrm>
          <a:prstGeom prst="ellipse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70904" y="487680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低估計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90404" y="487680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高估計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42685" y="5213350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12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區間為歷史誤差分位數估計，非保證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6854" y="6419850"/>
            <a:ext cx="20702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PRODUCT CONCEPT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679277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預測未來 H 期報酬，不是股價點位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4861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以報酬百分比描述目標，避免把不同價格尺度混在一起</a:t>
            </a:r>
          </a:p>
        </p:txBody>
      </p:sp>
      <p:sp>
        <p:nvSpPr>
          <p:cNvPr id="5" name="Rectangle 5"/>
          <p:cNvSpPr/>
          <p:nvPr/>
        </p:nvSpPr>
        <p:spPr>
          <a:xfrm>
            <a:off x="838200" y="1943100"/>
            <a:ext cx="3009900" cy="2171700"/>
          </a:xfrm>
          <a:prstGeom prst="roundRect">
            <a:avLst>
              <a:gd name="adj" fmla="val 7018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53668" y="21971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輸入特徵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430" y="2686050"/>
            <a:ext cx="19032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近 5、20、60 期動能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4430" y="3067050"/>
            <a:ext cx="1529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20、60 期波動度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4430" y="34480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相對移動平均的位置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91050" y="1943100"/>
            <a:ext cx="3009900" cy="2171700"/>
          </a:xfrm>
          <a:prstGeom prst="roundRect">
            <a:avLst>
              <a:gd name="adj" fmla="val 7018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06518" y="21971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預測目標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07280" y="2762250"/>
            <a:ext cx="18760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未來 H 期的對數報酬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08042" y="3206750"/>
            <a:ext cx="25395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H 由資料頻率與使用者期間換算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08042" y="35877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報酬不是價格，也不是獲利承諾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343900" y="1943100"/>
            <a:ext cx="3009900" cy="2171700"/>
          </a:xfrm>
          <a:prstGeom prst="roundRect">
            <a:avLst>
              <a:gd name="adj" fmla="val 7018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59368" y="21971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本金換算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60130" y="27622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預測報酬套用到輸入本金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60892" y="3206750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現行版本假設起點全額投入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60892" y="3587750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未含交易與換匯成本</a:t>
            </a:r>
          </a:p>
        </p:txBody>
      </p:sp>
      <p:sp>
        <p:nvSpPr>
          <p:cNvPr id="20" name="Line 20"/>
          <p:cNvSpPr/>
          <p:nvPr/>
        </p:nvSpPr>
        <p:spPr>
          <a:xfrm>
            <a:off x="3848100" y="302895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38100">
            <a:solidFill>
              <a:srgbClr val="177E78"/>
            </a:solidFill>
          </a:ln>
        </p:spPr>
      </p:sp>
      <p:sp>
        <p:nvSpPr>
          <p:cNvPr id="21" name="Line 21"/>
          <p:cNvSpPr/>
          <p:nvPr/>
        </p:nvSpPr>
        <p:spPr>
          <a:xfrm>
            <a:off x="7600950" y="302895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38100">
            <a:solidFill>
              <a:srgbClr val="177E7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30580" y="4648200"/>
            <a:ext cx="7284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輸出會隨預測期長、資產資料與模型誤差而變動，解讀時需同時查看範圍與限制。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6854" y="6343650"/>
            <a:ext cx="10365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TARGET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53644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時間順序比隨機切分更重要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只用當時可取得的資料預測後來，減少未來資訊洩漏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780" y="19240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較早資料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74180" y="19240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較晚資料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2438400"/>
            <a:ext cx="5905500" cy="971550"/>
          </a:xfrm>
          <a:prstGeom prst="roundRect">
            <a:avLst>
              <a:gd name="adj" fmla="val 13725"/>
            </a:avLst>
          </a:prstGeom>
          <a:solidFill>
            <a:srgbClr val="177E7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819900" y="2438400"/>
            <a:ext cx="3524250" cy="971550"/>
          </a:xfrm>
          <a:prstGeom prst="rect">
            <a:avLst/>
          </a:prstGeom>
          <a:solidFill>
            <a:srgbClr val="B6812E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0344150" y="2438400"/>
            <a:ext cx="933450" cy="971550"/>
          </a:xfrm>
          <a:prstGeom prst="rect">
            <a:avLst/>
          </a:prstGeom>
          <a:solidFill>
            <a:srgbClr val="C45E4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06068" y="2825750"/>
            <a:ext cx="13828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開發資料 80%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6368" y="2825750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時間序列驗證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4729" y="287655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</a:p>
        </p:txBody>
      </p:sp>
      <p:sp>
        <p:nvSpPr>
          <p:cNvPr id="13" name="Line 13"/>
          <p:cNvSpPr/>
          <p:nvPr/>
        </p:nvSpPr>
        <p:spPr>
          <a:xfrm>
            <a:off x="10287000" y="2266950"/>
            <a:ext cx="9525" cy="1381125"/>
          </a:xfrm>
          <a:custGeom>
            <a:avLst/>
            <a:gdLst/>
            <a:ahLst/>
            <a:cxnLst/>
            <a:rect l="l" t="t" r="r" b="b"/>
            <a:pathLst>
              <a:path w="952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/>
          <a:ln w="28575">
            <a:solidFill>
              <a:srgbClr val="142B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07542" y="3778250"/>
            <a:ext cx="48206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依時間排序；最後 20% 留作測試，模型不會用測試段調參。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14400" y="4457700"/>
            <a:ext cx="10363200" cy="121920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9050">
            <a:solidFill>
              <a:srgbClr val="D4D8D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211580" y="46672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重疊目標的處理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961" y="5060950"/>
            <a:ext cx="63638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預測目標跨越切分點時，剔除邊界 H 期樣本，避免訓練資料碰到測試未來。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6854" y="6343650"/>
            <a:ext cx="13591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VALIDATION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預測模型必須和簡單基準比較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先問模型是否比「預測不變」更有用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838200" y="1885950"/>
            <a:ext cx="310515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D4D8D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53668" y="2159000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基準一｜零報酬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811" y="2698750"/>
            <a:ext cx="13239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每一期都預測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4811" y="3155950"/>
            <a:ext cx="17349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測試市場是否有訊號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5954" y="375285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簡單且可重現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43425" y="1885950"/>
            <a:ext cx="310515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D4D8D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858893" y="2159000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基準二｜開發均值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60036" y="2698750"/>
            <a:ext cx="17349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只用開發期平均報酬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60036" y="3155950"/>
            <a:ext cx="13526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不偷看測試資料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61179" y="375285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提供歷史平均參照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248650" y="1885950"/>
            <a:ext cx="3105150" cy="2647950"/>
          </a:xfrm>
          <a:prstGeom prst="roundRect">
            <a:avLst>
              <a:gd name="adj" fmla="val 5755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564118" y="21590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候選模型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65261" y="2698750"/>
            <a:ext cx="112926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標準化 Ridge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5261" y="3079750"/>
            <a:ext cx="13845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Random Forest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66404" y="3676650"/>
            <a:ext cx="13996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0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用驗證集 MAE 選擇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580" y="4914900"/>
            <a:ext cx="66400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測試集回報 MAE、RMSE，與基準並列；目前沒有可引用的測試結果數字。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1342" y="5321300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在完成資料更新與重現前，不宣稱模型優於基準。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6854" y="6343650"/>
            <a:ext cx="12930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BASELINES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625297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預測呈現範圍，不只給一個數字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用測試期誤差分布估計較低與較高的情境</a:t>
            </a:r>
          </a:p>
        </p:txBody>
      </p:sp>
      <p:sp>
        <p:nvSpPr>
          <p:cNvPr id="5" name="Line 5"/>
          <p:cNvSpPr/>
          <p:nvPr/>
        </p:nvSpPr>
        <p:spPr>
          <a:xfrm>
            <a:off x="1428750" y="3790950"/>
            <a:ext cx="9144000" cy="9525"/>
          </a:xfrm>
          <a:custGeom>
            <a:avLst/>
            <a:gdLst/>
            <a:ahLst/>
            <a:cxnLst/>
            <a:rect l="l" t="t" r="r" b="b"/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28575">
            <a:solidFill>
              <a:srgbClr val="B8C2BE"/>
            </a:solidFill>
          </a:ln>
        </p:spPr>
      </p:sp>
      <p:sp>
        <p:nvSpPr>
          <p:cNvPr id="6" name="Line 6"/>
          <p:cNvSpPr/>
          <p:nvPr/>
        </p:nvSpPr>
        <p:spPr>
          <a:xfrm>
            <a:off x="3238500" y="37909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71450">
            <a:solidFill>
              <a:srgbClr val="B6812E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3448050"/>
            <a:ext cx="9525" cy="685800"/>
          </a:xfrm>
          <a:custGeom>
            <a:avLst/>
            <a:gdLst/>
            <a:ahLst/>
            <a:cxnLst/>
            <a:rect l="l" t="t" r="r" b="b"/>
            <a:pathLst>
              <a:path w="952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38100">
            <a:solidFill>
              <a:srgbClr val="142B3B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953125" y="3648075"/>
            <a:ext cx="285750" cy="285750"/>
          </a:xfrm>
          <a:prstGeom prst="ellipse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7861" y="3155950"/>
            <a:ext cx="11518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較低情境 q10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8661" y="2965450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177E78"/>
                </a:solidFill>
                <a:latin typeface="Microsoft JhengHei"/>
                <a:ea typeface="Microsoft JhengHei"/>
                <a:cs typeface="Microsoft JhengHei"/>
              </a:rPr>
              <a:t>模型預測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31861" y="3155950"/>
            <a:ext cx="11518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較高情境 q90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1892" y="4311650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示意，非個別資產實測值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90600" y="5010150"/>
            <a:ext cx="10210800" cy="876300"/>
          </a:xfrm>
          <a:prstGeom prst="roundRect">
            <a:avLst>
              <a:gd name="adj" fmla="val 15217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87780" y="5200650"/>
            <a:ext cx="54168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q10 / q90 取自測試期預測誤差分位數，描述歷史誤差範圍。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8542" y="5530850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這不是統計保證，也不代表未來一定落在區間內。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854" y="6343650"/>
            <a:ext cx="15581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UNCERTAINTY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目前能回答什麼，還不能回答什麼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把原型能力與研究限制放在同一張圖上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1809750"/>
            <a:ext cx="4953000" cy="3695700"/>
          </a:xfrm>
          <a:prstGeom prst="roundRect">
            <a:avLst>
              <a:gd name="adj" fmla="val 4124"/>
            </a:avLst>
          </a:prstGeom>
          <a:solidFill>
            <a:srgbClr val="E5EF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34618" y="21209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目前可以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5380" y="2686050"/>
            <a:ext cx="24989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✓ 以相同本金比較多種資產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5380" y="3143250"/>
            <a:ext cx="24989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✓ 回看歷史情境與投入方式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5380" y="3600450"/>
            <a:ext cx="24989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✓ 解釋價格特徵與時間切分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5380" y="4057650"/>
            <a:ext cx="24989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✓ 並列簡單基準與誤差指標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523" y="4743450"/>
            <a:ext cx="190840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透明展示設定與資料來源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457950" y="1809750"/>
            <a:ext cx="4953000" cy="3695700"/>
          </a:xfrm>
          <a:prstGeom prst="roundRect">
            <a:avLst>
              <a:gd name="adj" fmla="val 4124"/>
            </a:avLst>
          </a:prstGeom>
          <a:solidFill>
            <a:srgbClr val="F2E7C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811518" y="21209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目前不能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2280" y="2686050"/>
            <a:ext cx="240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× 保證未來獲利或模型勝出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12280" y="3143250"/>
            <a:ext cx="240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× 代表完整交易成本與稅負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2280" y="3600450"/>
            <a:ext cx="240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× 消除不同市場的資料偏差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2280" y="4057650"/>
            <a:ext cx="22061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42575D"/>
                </a:solidFill>
                <a:latin typeface="Microsoft JhengHei"/>
                <a:ea typeface="Microsoft JhengHei"/>
                <a:cs typeface="Microsoft JhengHei"/>
              </a:rPr>
              <a:t>× 證明跨市場模型可泛化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13423" y="4743450"/>
            <a:ext cx="208071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280" dirty="0">
                <a:solidFill>
                  <a:srgbClr val="738184"/>
                </a:solidFill>
                <a:latin typeface="Microsoft JhengHei"/>
                <a:ea typeface="Microsoft JhengHei"/>
                <a:cs typeface="Microsoft JhengHei"/>
              </a:rPr>
              <a:t>還需更長資料與樣本外驗證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811" y="5842000"/>
            <a:ext cx="38376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42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這是學習與比較工具，不是個人化投資建議。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854" y="6343650"/>
            <a:ext cx="8943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LIMITS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450850"/>
            <a:ext cx="625297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30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差異在比較流程，不在預測口號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1085850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C6B70"/>
                </a:solidFill>
                <a:latin typeface="Microsoft JhengHei"/>
                <a:ea typeface="Microsoft JhengHei"/>
                <a:cs typeface="Microsoft JhengHei"/>
              </a:rPr>
              <a:t>將跨資產模擬、模型基準與不確定性放在同一個流程</a:t>
            </a:r>
          </a:p>
        </p:txBody>
      </p:sp>
      <p:sp>
        <p:nvSpPr>
          <p:cNvPr id="5" name="Ellipse 5"/>
          <p:cNvSpPr/>
          <p:nvPr/>
        </p:nvSpPr>
        <p:spPr>
          <a:xfrm>
            <a:off x="1238250" y="2266950"/>
            <a:ext cx="1790700" cy="1790700"/>
          </a:xfrm>
          <a:prstGeom prst="ellipse">
            <a:avLst/>
          </a:prstGeom>
          <a:solidFill>
            <a:srgbClr val="142B3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49730" y="28956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同一本金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9542" y="32258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多種資產</a:t>
            </a:r>
          </a:p>
        </p:txBody>
      </p:sp>
      <p:sp>
        <p:nvSpPr>
          <p:cNvPr id="8" name="Ellipse 8"/>
          <p:cNvSpPr/>
          <p:nvPr/>
        </p:nvSpPr>
        <p:spPr>
          <a:xfrm>
            <a:off x="4114800" y="2266950"/>
            <a:ext cx="1790700" cy="1790700"/>
          </a:xfrm>
          <a:prstGeom prst="ellipse">
            <a:avLst/>
          </a:prstGeom>
          <a:solidFill>
            <a:srgbClr val="177E7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431030" y="28956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一致假設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1792" y="32258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歷史比較</a:t>
            </a:r>
          </a:p>
        </p:txBody>
      </p:sp>
      <p:sp>
        <p:nvSpPr>
          <p:cNvPr id="11" name="Ellipse 11"/>
          <p:cNvSpPr/>
          <p:nvPr/>
        </p:nvSpPr>
        <p:spPr>
          <a:xfrm>
            <a:off x="6991350" y="2266950"/>
            <a:ext cx="1790700" cy="1790700"/>
          </a:xfrm>
          <a:prstGeom prst="ellipse">
            <a:avLst/>
          </a:prstGeom>
          <a:solidFill>
            <a:srgbClr val="B6812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07580" y="28956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時間驗證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8342" y="32258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基準模型</a:t>
            </a:r>
          </a:p>
        </p:txBody>
      </p:sp>
      <p:sp>
        <p:nvSpPr>
          <p:cNvPr id="14" name="Ellipse 14"/>
          <p:cNvSpPr/>
          <p:nvPr/>
        </p:nvSpPr>
        <p:spPr>
          <a:xfrm>
            <a:off x="9582150" y="2266950"/>
            <a:ext cx="1790700" cy="1790700"/>
          </a:xfrm>
          <a:prstGeom prst="ellipse">
            <a:avLst/>
          </a:prstGeom>
          <a:solidFill>
            <a:srgbClr val="C45E4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898380" y="28956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呈現範圍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99142" y="32258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清楚限制</a:t>
            </a:r>
          </a:p>
        </p:txBody>
      </p:sp>
      <p:sp>
        <p:nvSpPr>
          <p:cNvPr id="17" name="Line 17"/>
          <p:cNvSpPr/>
          <p:nvPr/>
        </p:nvSpPr>
        <p:spPr>
          <a:xfrm>
            <a:off x="3028950" y="3162300"/>
            <a:ext cx="1085850" cy="9525"/>
          </a:xfrm>
          <a:custGeom>
            <a:avLst/>
            <a:gdLst/>
            <a:ahLst/>
            <a:cxnLst/>
            <a:rect l="l" t="t" r="r" b="b"/>
            <a:pathLst>
              <a:path w="1085850" h="9525">
                <a:moveTo>
                  <a:pt x="0" y="0"/>
                </a:moveTo>
                <a:lnTo>
                  <a:pt x="1085850" y="0"/>
                </a:lnTo>
              </a:path>
            </a:pathLst>
          </a:custGeom>
          <a:noFill/>
          <a:ln w="38100">
            <a:solidFill>
              <a:srgbClr val="738184"/>
            </a:solidFill>
          </a:ln>
        </p:spPr>
      </p:sp>
      <p:sp>
        <p:nvSpPr>
          <p:cNvPr id="18" name="Line 18"/>
          <p:cNvSpPr/>
          <p:nvPr/>
        </p:nvSpPr>
        <p:spPr>
          <a:xfrm>
            <a:off x="5905500" y="3162300"/>
            <a:ext cx="1085850" cy="9525"/>
          </a:xfrm>
          <a:custGeom>
            <a:avLst/>
            <a:gdLst/>
            <a:ahLst/>
            <a:cxnLst/>
            <a:rect l="l" t="t" r="r" b="b"/>
            <a:pathLst>
              <a:path w="1085850" h="9525">
                <a:moveTo>
                  <a:pt x="0" y="0"/>
                </a:moveTo>
                <a:lnTo>
                  <a:pt x="1085850" y="0"/>
                </a:lnTo>
              </a:path>
            </a:pathLst>
          </a:custGeom>
          <a:noFill/>
          <a:ln w="38100">
            <a:solidFill>
              <a:srgbClr val="738184"/>
            </a:solidFill>
          </a:ln>
        </p:spPr>
      </p:sp>
      <p:sp>
        <p:nvSpPr>
          <p:cNvPr id="19" name="Line 19"/>
          <p:cNvSpPr/>
          <p:nvPr/>
        </p:nvSpPr>
        <p:spPr>
          <a:xfrm>
            <a:off x="8782050" y="3162300"/>
            <a:ext cx="800100" cy="9525"/>
          </a:xfrm>
          <a:custGeom>
            <a:avLst/>
            <a:gdLst/>
            <a:ahLst/>
            <a:cxnLst/>
            <a:rect l="l" t="t" r="r" b="b"/>
            <a:pathLst>
              <a:path w="800100" h="952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38100">
            <a:solidFill>
              <a:srgbClr val="73818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287399" y="4667250"/>
            <a:ext cx="7885887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142B3B"/>
                </a:solidFill>
                <a:latin typeface="Microsoft JhengHei"/>
                <a:ea typeface="Microsoft JhengHei"/>
                <a:cs typeface="Microsoft JhengHei"/>
              </a:rPr>
              <a:t>價值在於讓使用者看懂比較條件、檢查模型是否勝過基準，並辨認預測的不確定性。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54" y="6343650"/>
            <a:ext cx="24874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38184"/>
                </a:solidFill>
                <a:latin typeface="+mn-lt"/>
                <a:ea typeface="+mn-ea"/>
                <a:cs typeface="+mn-cs"/>
              </a:rPr>
              <a:t>PROJECT CONTRIBUTION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4A39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93242" y="939800"/>
            <a:ext cx="10807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6C8BE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812" y="1746250"/>
            <a:ext cx="342900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6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先讓比較透明，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1812" y="2374900"/>
            <a:ext cx="391363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6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再逐步驗證預測。</a:t>
            </a:r>
          </a:p>
        </p:txBody>
      </p:sp>
      <p:sp>
        <p:nvSpPr>
          <p:cNvPr id="6" name="Line 6"/>
          <p:cNvSpPr/>
          <p:nvPr/>
        </p:nvSpPr>
        <p:spPr>
          <a:xfrm>
            <a:off x="838200" y="3371850"/>
            <a:ext cx="10496550" cy="9525"/>
          </a:xfrm>
          <a:custGeom>
            <a:avLst/>
            <a:gdLst/>
            <a:ahLst/>
            <a:cxnLst/>
            <a:rect l="l" t="t" r="r" b="b"/>
            <a:pathLst>
              <a:path w="10496550" h="9525">
                <a:moveTo>
                  <a:pt x="0" y="0"/>
                </a:moveTo>
                <a:lnTo>
                  <a:pt x="10496550" y="0"/>
                </a:lnTo>
              </a:path>
            </a:pathLst>
          </a:custGeom>
          <a:noFill/>
          <a:ln w="19050">
            <a:solidFill>
              <a:srgbClr val="44606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9818" y="3835400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dirty="0">
                <a:solidFill>
                  <a:srgbClr val="D4E2E0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580" y="43624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補齊資料來源與更新紀錄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31030" y="43624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重新執行樣本外測試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88630" y="43624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加入交易成本與更多基準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199" y="5467350"/>
            <a:ext cx="1079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80" dirty="0">
                <a:solidFill>
                  <a:srgbClr val="86C8BE"/>
                </a:solidFill>
                <a:latin typeface="Microsoft JhengHei"/>
                <a:ea typeface="Microsoft JhengHei"/>
                <a:cs typeface="Microsoft JhengHei"/>
              </a:rPr>
              <a:t>問題與討論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2104" y="6134100"/>
            <a:ext cx="37584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1A5A7"/>
                </a:solidFill>
                <a:latin typeface="+mn-lt"/>
                <a:ea typeface="+mn-ea"/>
                <a:cs typeface="+mn-cs"/>
              </a:rPr>
              <a:t>CROSS-ASSET INVESTMENT SIMULATOR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跨資產投資模擬系統">
  <a:themeElements>
    <a:clrScheme name="跨資產投資模擬系統">
      <a:dk1>
        <a:srgbClr val="202B33"/>
      </a:dk1>
      <a:lt1>
        <a:srgbClr val="F7F6F1"/>
      </a:lt1>
      <a:dk2>
        <a:srgbClr val="1F497D"/>
      </a:dk2>
      <a:lt2>
        <a:srgbClr val="F7F6F1"/>
      </a:lt2>
      <a:accent1>
        <a:srgbClr val="17364A"/>
      </a:accent1>
      <a:accent2>
        <a:srgbClr val="087F70"/>
      </a:accent2>
      <a:accent3>
        <a:srgbClr val="D69A32"/>
      </a:accent3>
      <a:accent4>
        <a:srgbClr val="17364A"/>
      </a:accent4>
      <a:accent5>
        <a:srgbClr val="EAEDE8"/>
      </a:accent5>
      <a:accent6>
        <a:srgbClr val="65727A"/>
      </a:accent6>
      <a:hlink>
        <a:srgbClr val="087F70"/>
      </a:hlink>
      <a:folHlink>
        <a:srgbClr val="D69A32"/>
      </a:folHlink>
    </a:clrScheme>
    <a:fontScheme name="跨資產投資模擬系統">
      <a:majorFont>
        <a:latin typeface="Georgia"/>
        <a:ea typeface="PMingLiU"/>
        <a:cs typeface="Georgia"/>
        <a:font script="Jpan" typeface="PMingLiU"/>
        <a:font script="Hang" typeface="PMingLiU"/>
        <a:font script="Hans" typeface="PMingLiU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跨資產投資模擬系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跨資產投資模擬系統">
  <a:themeElements>
    <a:clrScheme name="跨資產投資模擬系統">
      <a:dk1>
        <a:srgbClr val="202B33"/>
      </a:dk1>
      <a:lt1>
        <a:srgbClr val="F7F6F1"/>
      </a:lt1>
      <a:dk2>
        <a:srgbClr val="1F497D"/>
      </a:dk2>
      <a:lt2>
        <a:srgbClr val="F7F6F1"/>
      </a:lt2>
      <a:accent1>
        <a:srgbClr val="17364A"/>
      </a:accent1>
      <a:accent2>
        <a:srgbClr val="087F70"/>
      </a:accent2>
      <a:accent3>
        <a:srgbClr val="D69A32"/>
      </a:accent3>
      <a:accent4>
        <a:srgbClr val="17364A"/>
      </a:accent4>
      <a:accent5>
        <a:srgbClr val="EAEDE8"/>
      </a:accent5>
      <a:accent6>
        <a:srgbClr val="65727A"/>
      </a:accent6>
      <a:hlink>
        <a:srgbClr val="087F70"/>
      </a:hlink>
      <a:folHlink>
        <a:srgbClr val="D69A32"/>
      </a:folHlink>
    </a:clrScheme>
    <a:fontScheme name="跨資產投資模擬系統">
      <a:majorFont>
        <a:latin typeface="Georgia"/>
        <a:ea typeface="PMingLiU"/>
        <a:cs typeface="Georgia"/>
        <a:font script="Jpan" typeface="PMingLiU"/>
        <a:font script="Hang" typeface="PMingLiU"/>
        <a:font script="Hans" typeface="PMingLiU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跨資產投資模擬系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2026-10-18T06:53:58Z</dcterms:created>
  <dcterms:modified xsi:type="dcterms:W3CDTF">2026-10-18T06:53:58Z</dcterms:modified>
  <cp:category/>
  <cp:contentStatus/>
</cp:coreProperties>
</file>